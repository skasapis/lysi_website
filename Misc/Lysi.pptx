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57" r:id="rId3"/>
    <p:sldId id="259" r:id="rId4"/>
    <p:sldId id="258" r:id="rId5"/>
    <p:sldId id="260" r:id="rId6"/>
    <p:sldId id="262" r:id="rId7"/>
    <p:sldId id="263" r:id="rId8"/>
    <p:sldId id="256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1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D47A"/>
    <a:srgbClr val="FFD001"/>
    <a:srgbClr val="002C61"/>
    <a:srgbClr val="AC27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3"/>
    <p:restoredTop sz="94586"/>
  </p:normalViewPr>
  <p:slideViewPr>
    <p:cSldViewPr snapToGrid="0" snapToObjects="1">
      <p:cViewPr>
        <p:scale>
          <a:sx n="90" d="100"/>
          <a:sy n="90" d="100"/>
        </p:scale>
        <p:origin x="232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9-06-30T21:05:40.440" idx="1">
    <p:pos x="10" y="10"/>
    <p:text/>
    <p:extLst>
      <p:ext uri="{C676402C-5697-4E1C-873F-D02D1690AC5C}">
        <p15:threadingInfo xmlns:p15="http://schemas.microsoft.com/office/powerpoint/2012/main" timeZoneBias="24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5A9EA-79C7-BE40-8D17-BF6B3631B4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EC1F77-0CD0-2141-9628-3146AAC199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998CA-87C4-DC47-A922-A7763961A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A383-A607-E14F-8B29-29AD9CAF6772}" type="datetimeFigureOut">
              <a:rPr lang="en-US" smtClean="0"/>
              <a:t>6/25/19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1A15F-4130-5F45-9566-43E74D615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E46C8-E04F-7A47-BD21-30A273C75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6FCA-C8DD-9648-9F88-636FBDCA8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533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0E8EE-D0FE-2246-9BC6-06C0C85F2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E49BF-FB15-F847-B8FC-643C070FF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877E1-7FA0-B44E-A212-FD86FACD3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A383-A607-E14F-8B29-29AD9CAF6772}" type="datetimeFigureOut">
              <a:rPr lang="en-US" smtClean="0"/>
              <a:t>6/25/19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3951D-3B29-A948-935B-F60E75EB2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3B7F8-3B47-5B46-BD06-A58A8F18B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6FCA-C8DD-9648-9F88-636FBDCA8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720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B9BD-CC61-914F-B37D-6528A7672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C30A1A-5B1E-B041-B1B5-1FF8DDC6E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4872C3-E47E-0149-A080-49D98B8A6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A383-A607-E14F-8B29-29AD9CAF6772}" type="datetimeFigureOut">
              <a:rPr lang="en-US" smtClean="0"/>
              <a:t>6/25/19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5420D-F068-4243-AE29-901B86BA9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29B0E-D0F6-874A-A1EB-F08164E83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6FCA-C8DD-9648-9F88-636FBDCA8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048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0A149-3F27-EB41-8CDE-B27A40C61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02038-1131-3947-B435-00C9DBB42D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08C904-FD41-5B46-9A8B-0E2DD7E6A7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B8BFB4-9F7F-CB42-8274-D204ECCC9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A383-A607-E14F-8B29-29AD9CAF6772}" type="datetimeFigureOut">
              <a:rPr lang="en-US" smtClean="0"/>
              <a:t>6/25/19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12A72B-94C9-BC41-8251-3FCC332CA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60A997-314B-4641-BF92-0364BFCDA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6FCA-C8DD-9648-9F88-636FBDCA8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57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76ED0-1E6E-4247-9774-EF91E41FD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2779AD-F877-5E46-801E-D655A0568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BB9BF2-7613-2F4E-A470-17D7386B62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2EFFD3-7F92-B14A-ACEB-3DB8CD72BB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4B80D2-487C-0940-95D7-97C1856B66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02BB06-A166-104B-A26C-DD4BE646B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A383-A607-E14F-8B29-29AD9CAF6772}" type="datetimeFigureOut">
              <a:rPr lang="en-US" smtClean="0"/>
              <a:t>6/25/19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AA7F66-43BA-6948-987D-F0C13F260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708616-C537-774F-8068-AA45B0781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6FCA-C8DD-9648-9F88-636FBDCA8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492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3F8D4-E08C-734D-9CCA-88EF0BC95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6AA66D-288E-9C42-854C-0A60C1A89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A383-A607-E14F-8B29-29AD9CAF6772}" type="datetimeFigureOut">
              <a:rPr lang="en-US" smtClean="0"/>
              <a:t>6/25/19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9E9A41-5CEC-914A-87BF-8426957E2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549D8B-9EAF-364A-AFC9-50CD54128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6FCA-C8DD-9648-9F88-636FBDCA8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613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8C768F-A195-6C4C-BFF8-192475C0C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A383-A607-E14F-8B29-29AD9CAF6772}" type="datetimeFigureOut">
              <a:rPr lang="en-US" smtClean="0"/>
              <a:t>6/25/19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E81728-0366-A649-AB15-802DBBA0F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246D0-9157-B343-8E62-3156B9EE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6FCA-C8DD-9648-9F88-636FBDCA8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905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F9B2C-7F54-7044-9222-CD856FC8C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93710-7C74-3B43-A95C-2E508FCFB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13412-3233-E34E-9266-2F04422462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C5FA1D-C375-7F4C-BF63-3FAE10023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A383-A607-E14F-8B29-29AD9CAF6772}" type="datetimeFigureOut">
              <a:rPr lang="en-US" smtClean="0"/>
              <a:t>6/25/19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7BD79-0BA5-4442-9F95-F8BD704FB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845DE2-596E-9749-A242-15C2EA66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6FCA-C8DD-9648-9F88-636FBDCA8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505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A627D-5B7D-9247-BAE5-4AFA08051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0B2E5C-DF88-0544-BA7D-AF79C06C23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2353F-E6F6-914E-AC65-D6D30A43E2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5F87D-8363-AA43-BC96-2E3E02804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A383-A607-E14F-8B29-29AD9CAF6772}" type="datetimeFigureOut">
              <a:rPr lang="en-US" smtClean="0"/>
              <a:t>6/25/19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A3E21-FE7D-F343-B92C-A1528F1C6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590D8-AFB8-854A-ADDD-A68FD1157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6FCA-C8DD-9648-9F88-636FBDCA8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46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D2E1-4856-484A-81F3-A5F5D82C7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88C751-4D5F-B74E-BF81-7CF1B48547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3D7D0-2124-AF46-8337-859A038B2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A383-A607-E14F-8B29-29AD9CAF6772}" type="datetimeFigureOut">
              <a:rPr lang="en-US" smtClean="0"/>
              <a:t>6/25/19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2DFE5-489D-0B42-A26A-73E87126F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D90A4-9CAD-5245-911F-FEBD607D2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6FCA-C8DD-9648-9F88-636FBDCA8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140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75D0FA-C8A4-094F-AC48-81745EBDF9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6673F-AB95-0048-BC0E-90F9CC150B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C47EF-26A8-864A-B8EA-6585F8517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A383-A607-E14F-8B29-29AD9CAF6772}" type="datetimeFigureOut">
              <a:rPr lang="en-US" smtClean="0"/>
              <a:t>6/25/19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FBA8E-EFB5-6946-BAD5-F16D385D0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C0D1-7613-2D4D-B469-4826836F6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6FCA-C8DD-9648-9F88-636FBDCA8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598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C0E29D-24ED-9E4F-ABBA-E3A3DA0D4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0ACF8-DAF2-BA43-A168-9F9AB0276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DB8FC-C07A-1549-9539-4EDE3DC58D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D9A383-A607-E14F-8B29-29AD9CAF6772}" type="datetimeFigureOut">
              <a:rPr lang="en-US" smtClean="0"/>
              <a:t>6/25/19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55F97-165E-454D-97BD-C6C5466328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516F4-DCB0-D549-931E-6E6B9716F4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3C6FCA-C8DD-9648-9F88-636FBDCA8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018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cs/?dv=osx" TargetMode="External"/><Relationship Id="rId2" Type="http://schemas.openxmlformats.org/officeDocument/2006/relationships/hyperlink" Target="https://www.youtube.com/watch?v=RBZL6PO2ytc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ordpress.org/support/topic/need-happy-hour-plugin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343486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9C491B-2876-824C-90C6-DB2C1913B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73" y="466578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Business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6DA5F-ACD0-7F4E-A479-0E6AA0897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525638"/>
            <a:ext cx="9144000" cy="42000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000" kern="1200">
                <a:solidFill>
                  <a:srgbClr val="FEC705"/>
                </a:solidFill>
                <a:latin typeface="+mn-lt"/>
                <a:ea typeface="+mn-ea"/>
                <a:cs typeface="+mn-cs"/>
              </a:rPr>
              <a:t>Logo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1448631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clipart&#10;&#10;Description automatically generated">
            <a:extLst>
              <a:ext uri="{FF2B5EF4-FFF2-40B4-BE49-F238E27FC236}">
                <a16:creationId xmlns:a16="http://schemas.microsoft.com/office/drawing/2014/main" id="{C53AF249-50C1-5947-BB73-199F65066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017" y="3314694"/>
            <a:ext cx="7105965" cy="177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54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80F57-1687-BA48-8FB8-879046EF5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781"/>
            <a:ext cx="10515600" cy="757620"/>
          </a:xfrm>
        </p:spPr>
        <p:txBody>
          <a:bodyPr/>
          <a:lstStyle/>
          <a:p>
            <a:r>
              <a:rPr lang="en-US" dirty="0"/>
              <a:t>App Function (before tutor’s acceptance)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DFAA2-533B-6547-BECD-C8B87A434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3295"/>
            <a:ext cx="5111187" cy="5123667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3200" dirty="0"/>
              <a:t>User App</a:t>
            </a:r>
          </a:p>
          <a:p>
            <a:r>
              <a:rPr lang="en-US" sz="2000" dirty="0"/>
              <a:t>User creates an account </a:t>
            </a:r>
          </a:p>
          <a:p>
            <a:pPr lvl="1"/>
            <a:r>
              <a:rPr lang="en-US" sz="1800" dirty="0"/>
              <a:t>Should be able to retrieve password or change account</a:t>
            </a:r>
          </a:p>
          <a:p>
            <a:pPr lvl="1"/>
            <a:r>
              <a:rPr lang="en-US" sz="1800" dirty="0"/>
              <a:t>Input required info (</a:t>
            </a:r>
            <a:r>
              <a:rPr lang="en-US" sz="1800" dirty="0" err="1"/>
              <a:t>name,major,university</a:t>
            </a:r>
            <a:r>
              <a:rPr lang="en-US" sz="1800" dirty="0"/>
              <a:t>-for now only </a:t>
            </a:r>
            <a:r>
              <a:rPr lang="en-US" sz="1800" dirty="0" err="1"/>
              <a:t>UMich</a:t>
            </a:r>
            <a:r>
              <a:rPr lang="en-US" sz="1800" dirty="0"/>
              <a:t>)</a:t>
            </a:r>
          </a:p>
          <a:p>
            <a:pPr lvl="1"/>
            <a:r>
              <a:rPr lang="en-US" sz="1800" dirty="0"/>
              <a:t>Credit card info (skip this step for now)</a:t>
            </a:r>
          </a:p>
          <a:p>
            <a:r>
              <a:rPr lang="en-US" sz="2000" dirty="0"/>
              <a:t>(1) User snaps a pic of the homework and submits or requests simple tutoring – select </a:t>
            </a:r>
            <a:r>
              <a:rPr lang="en-US" sz="2000" b="1" dirty="0"/>
              <a:t>time limit </a:t>
            </a:r>
            <a:r>
              <a:rPr lang="en-US" sz="2000" dirty="0"/>
              <a:t>(ex. need it in 2 hours), </a:t>
            </a:r>
            <a:r>
              <a:rPr lang="en-US" sz="2000" b="1" dirty="0"/>
              <a:t>major/class name </a:t>
            </a:r>
            <a:r>
              <a:rPr lang="en-US" sz="2000" dirty="0"/>
              <a:t>and</a:t>
            </a:r>
            <a:r>
              <a:rPr lang="en-US" sz="2000" b="1" dirty="0"/>
              <a:t> form of explanation </a:t>
            </a:r>
            <a:r>
              <a:rPr lang="en-US" sz="2000" dirty="0"/>
              <a:t>(typed up, call or in person meeting)</a:t>
            </a:r>
          </a:p>
          <a:p>
            <a:r>
              <a:rPr lang="en-US" sz="2000" dirty="0"/>
              <a:t>(2) User waits for 5 minutes</a:t>
            </a:r>
          </a:p>
          <a:p>
            <a:r>
              <a:rPr lang="en-US" sz="2000" dirty="0"/>
              <a:t>(6) Receives “tutor examining” notification</a:t>
            </a:r>
          </a:p>
          <a:p>
            <a:r>
              <a:rPr lang="en-US" sz="2000" dirty="0"/>
              <a:t>(7) If no tutor bids, prompt to call me</a:t>
            </a:r>
          </a:p>
          <a:p>
            <a:r>
              <a:rPr lang="en-US" sz="2000" dirty="0"/>
              <a:t>(7) If tutor bids User gets 3 options: </a:t>
            </a:r>
            <a:r>
              <a:rPr lang="en-US" sz="2000" b="1" dirty="0"/>
              <a:t>Accept</a:t>
            </a:r>
            <a:r>
              <a:rPr lang="en-US" sz="2000" dirty="0"/>
              <a:t>, </a:t>
            </a:r>
            <a:r>
              <a:rPr lang="en-US" sz="2000" b="1" dirty="0"/>
              <a:t>Deny</a:t>
            </a:r>
            <a:r>
              <a:rPr lang="en-US" sz="2000" dirty="0"/>
              <a:t> or </a:t>
            </a:r>
            <a:r>
              <a:rPr lang="en-US" sz="2000" b="1" dirty="0"/>
              <a:t>Request Different Tutor</a:t>
            </a:r>
            <a:r>
              <a:rPr lang="en-US" sz="2000" dirty="0"/>
              <a:t> (max price will be the price given by the </a:t>
            </a:r>
            <a:r>
              <a:rPr lang="en-US" sz="2000" dirty="0" err="1"/>
              <a:t>prev</a:t>
            </a:r>
            <a:r>
              <a:rPr lang="en-US" sz="2000" dirty="0"/>
              <a:t> tutor + user waits for 5 more minutes (go to 2))</a:t>
            </a:r>
            <a:endParaRPr lang="en-US" dirty="0"/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1B85C14-AEB2-234D-B602-3067AF1BE214}"/>
              </a:ext>
            </a:extLst>
          </p:cNvPr>
          <p:cNvSpPr txBox="1">
            <a:spLocks/>
          </p:cNvSpPr>
          <p:nvPr/>
        </p:nvSpPr>
        <p:spPr>
          <a:xfrm>
            <a:off x="6096000" y="1053295"/>
            <a:ext cx="5111187" cy="51236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200" dirty="0"/>
              <a:t>Tutor App</a:t>
            </a:r>
          </a:p>
          <a:p>
            <a:r>
              <a:rPr lang="en-US" sz="2000" dirty="0"/>
              <a:t>Tutor creates an account </a:t>
            </a:r>
          </a:p>
          <a:p>
            <a:pPr lvl="1"/>
            <a:r>
              <a:rPr lang="en-US" sz="1800" dirty="0"/>
              <a:t>Should be able to retrieve password or change account</a:t>
            </a:r>
          </a:p>
          <a:p>
            <a:pPr lvl="1"/>
            <a:r>
              <a:rPr lang="en-US" sz="1800" dirty="0"/>
              <a:t>Input required info (</a:t>
            </a:r>
            <a:r>
              <a:rPr lang="en-US" sz="1800" dirty="0" err="1"/>
              <a:t>name,major,university</a:t>
            </a:r>
            <a:r>
              <a:rPr lang="en-US" sz="1800" dirty="0"/>
              <a:t>-for now only </a:t>
            </a:r>
            <a:r>
              <a:rPr lang="en-US" sz="1800" dirty="0" err="1"/>
              <a:t>UMich</a:t>
            </a:r>
            <a:r>
              <a:rPr lang="en-US" sz="1800" dirty="0"/>
              <a:t>)</a:t>
            </a:r>
          </a:p>
          <a:p>
            <a:r>
              <a:rPr lang="en-US" sz="2000" dirty="0"/>
              <a:t>(3) Tutor receives notification about homework on his major</a:t>
            </a:r>
          </a:p>
          <a:p>
            <a:r>
              <a:rPr lang="en-US" sz="2000" dirty="0"/>
              <a:t>(4) Hits “examining” and takes a look on homework + time limit</a:t>
            </a:r>
            <a:r>
              <a:rPr lang="el-GR" sz="2000" dirty="0"/>
              <a:t> </a:t>
            </a:r>
            <a:r>
              <a:rPr lang="en-US" sz="2000" dirty="0"/>
              <a:t>(has 5 minutes)</a:t>
            </a:r>
          </a:p>
          <a:p>
            <a:r>
              <a:rPr lang="en-US" sz="2000" dirty="0"/>
              <a:t>(5) Selects one of two options: </a:t>
            </a:r>
            <a:r>
              <a:rPr lang="en-US" sz="2000" b="1" dirty="0"/>
              <a:t>deny</a:t>
            </a:r>
            <a:r>
              <a:rPr lang="en-US" sz="2000" dirty="0"/>
              <a:t> or </a:t>
            </a:r>
            <a:r>
              <a:rPr lang="en-US" sz="2000" b="1" dirty="0"/>
              <a:t>give a bid</a:t>
            </a:r>
            <a:endParaRPr lang="el-GR" sz="2000" b="1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47511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80F57-1687-BA48-8FB8-879046EF5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781"/>
            <a:ext cx="10515600" cy="757620"/>
          </a:xfrm>
        </p:spPr>
        <p:txBody>
          <a:bodyPr/>
          <a:lstStyle/>
          <a:p>
            <a:r>
              <a:rPr lang="en-US" dirty="0"/>
              <a:t>App Function (after tutor’s acceptance)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DFAA2-533B-6547-BECD-C8B87A434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3295"/>
            <a:ext cx="5111187" cy="512366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/>
              <a:t>User</a:t>
            </a:r>
          </a:p>
          <a:p>
            <a:r>
              <a:rPr lang="en-US" sz="2000" dirty="0"/>
              <a:t>(8) Timer starts, user waits</a:t>
            </a:r>
            <a:endParaRPr lang="en-US" sz="1800" dirty="0"/>
          </a:p>
          <a:p>
            <a:r>
              <a:rPr lang="en-US" sz="2000" dirty="0"/>
              <a:t>(9) User enters messaging portal</a:t>
            </a:r>
          </a:p>
          <a:p>
            <a:r>
              <a:rPr lang="en-US" sz="2000" dirty="0"/>
              <a:t>(11) User gets </a:t>
            </a:r>
            <a:r>
              <a:rPr lang="en-US" sz="2000" dirty="0" err="1"/>
              <a:t>hw</a:t>
            </a:r>
            <a:r>
              <a:rPr lang="en-US" sz="2000" dirty="0"/>
              <a:t> and explanations, rates the tutor</a:t>
            </a:r>
          </a:p>
          <a:p>
            <a:endParaRPr lang="en-US" sz="20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1B85C14-AEB2-234D-B602-3067AF1BE214}"/>
              </a:ext>
            </a:extLst>
          </p:cNvPr>
          <p:cNvSpPr txBox="1">
            <a:spLocks/>
          </p:cNvSpPr>
          <p:nvPr/>
        </p:nvSpPr>
        <p:spPr>
          <a:xfrm>
            <a:off x="6096000" y="1053295"/>
            <a:ext cx="5111187" cy="51236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200" dirty="0"/>
              <a:t>Tutor</a:t>
            </a:r>
          </a:p>
          <a:p>
            <a:r>
              <a:rPr lang="en-US" sz="2000" dirty="0"/>
              <a:t>(8) Timer starts, tutor works on the </a:t>
            </a:r>
            <a:r>
              <a:rPr lang="en-US" sz="2000" dirty="0" err="1"/>
              <a:t>hw</a:t>
            </a:r>
            <a:endParaRPr lang="en-US" sz="2000" dirty="0"/>
          </a:p>
          <a:p>
            <a:r>
              <a:rPr lang="en-US" sz="2000" dirty="0"/>
              <a:t>(9) Tutor enters messaging portal</a:t>
            </a:r>
          </a:p>
          <a:p>
            <a:r>
              <a:rPr lang="en-US" sz="2000" dirty="0"/>
              <a:t>(10) When tutor finished with </a:t>
            </a:r>
            <a:r>
              <a:rPr lang="en-US" sz="2000" dirty="0" err="1"/>
              <a:t>hw</a:t>
            </a:r>
            <a:r>
              <a:rPr lang="en-US" sz="2000" dirty="0"/>
              <a:t>, depending on explanation: meets user, calls user or types up explanations and submits</a:t>
            </a:r>
          </a:p>
        </p:txBody>
      </p:sp>
    </p:spTree>
    <p:extLst>
      <p:ext uri="{BB962C8B-B14F-4D97-AF65-F5344CB8AC3E}">
        <p14:creationId xmlns:p14="http://schemas.microsoft.com/office/powerpoint/2010/main" val="563501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CB909-07E8-F945-81EA-9D80266AB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7067"/>
          </a:xfrm>
        </p:spPr>
        <p:txBody>
          <a:bodyPr/>
          <a:lstStyle/>
          <a:p>
            <a:r>
              <a:rPr lang="en-US" dirty="0"/>
              <a:t>Extra important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9237E-399C-2344-BEC3-5B17FFD96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9407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Tutor price recommendatory (make sure tutors don’t bid high prices)</a:t>
            </a:r>
          </a:p>
          <a:p>
            <a:r>
              <a:rPr lang="en-US" dirty="0"/>
              <a:t>Tutors full names, users only first (explore more?)</a:t>
            </a:r>
          </a:p>
          <a:p>
            <a:r>
              <a:rPr lang="en-US" dirty="0"/>
              <a:t>“I accept the terms” prompt when creating account (so we are not liable)</a:t>
            </a:r>
          </a:p>
          <a:p>
            <a:r>
              <a:rPr lang="en-US" dirty="0"/>
              <a:t>Customer service line always available</a:t>
            </a:r>
          </a:p>
          <a:p>
            <a:r>
              <a:rPr lang="en-US" dirty="0"/>
              <a:t>100% refund if poor quality</a:t>
            </a:r>
          </a:p>
          <a:p>
            <a:r>
              <a:rPr lang="en-US" dirty="0"/>
              <a:t>Times might be variable (the examining and waiting intervals)</a:t>
            </a:r>
          </a:p>
          <a:p>
            <a:r>
              <a:rPr lang="en-US" dirty="0"/>
              <a:t>Sign up benefits for first time users and tutors (incentive) – low cost on first try, recommend and get a free </a:t>
            </a:r>
            <a:r>
              <a:rPr lang="en-US" dirty="0" err="1"/>
              <a:t>hw</a:t>
            </a:r>
            <a:r>
              <a:rPr lang="en-US" dirty="0"/>
              <a:t>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Step counter “5 easy steps, lets begin”</a:t>
            </a:r>
          </a:p>
          <a:p>
            <a:r>
              <a:rPr lang="en-US" dirty="0"/>
              <a:t>Google/FB sign up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594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429D8-B4D5-BC46-868F-75FD3311E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F5256-D263-3946-84AB-C9CF1D9EF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Cheg</a:t>
            </a:r>
            <a:r>
              <a:rPr lang="en-US" dirty="0"/>
              <a:t> or similar websites</a:t>
            </a:r>
          </a:p>
          <a:p>
            <a:r>
              <a:rPr lang="en-US" dirty="0"/>
              <a:t>Library flyers (half and half user and tutor flyer)</a:t>
            </a:r>
          </a:p>
          <a:p>
            <a:r>
              <a:rPr lang="en-US" dirty="0" err="1"/>
              <a:t>Skeeps</a:t>
            </a:r>
            <a:r>
              <a:rPr lang="en-US" dirty="0"/>
              <a:t>, Ricks and other bars “to busy to homework? Ask some help”</a:t>
            </a:r>
          </a:p>
        </p:txBody>
      </p:sp>
    </p:spTree>
    <p:extLst>
      <p:ext uri="{BB962C8B-B14F-4D97-AF65-F5344CB8AC3E}">
        <p14:creationId xmlns:p14="http://schemas.microsoft.com/office/powerpoint/2010/main" val="396719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2CC7D-8B2D-2A4B-8D9B-A41459504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857" y="345722"/>
            <a:ext cx="2865699" cy="896516"/>
          </a:xfrm>
        </p:spPr>
        <p:txBody>
          <a:bodyPr>
            <a:normAutofit fontScale="90000"/>
          </a:bodyPr>
          <a:lstStyle/>
          <a:p>
            <a:r>
              <a:rPr lang="en-US" dirty="0"/>
              <a:t>User UI Flow </a:t>
            </a:r>
            <a:r>
              <a:rPr lang="en-US" sz="2700" dirty="0"/>
              <a:t>(after account setup)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51CCCC5-7630-6F46-BC55-8B31A7D6BFF3}"/>
              </a:ext>
            </a:extLst>
          </p:cNvPr>
          <p:cNvSpPr/>
          <p:nvPr/>
        </p:nvSpPr>
        <p:spPr>
          <a:xfrm>
            <a:off x="6206575" y="0"/>
            <a:ext cx="1337055" cy="2772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Main Page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921F96-36E6-4B4E-9A41-65C4C87C13D6}"/>
              </a:ext>
            </a:extLst>
          </p:cNvPr>
          <p:cNvSpPr/>
          <p:nvPr/>
        </p:nvSpPr>
        <p:spPr>
          <a:xfrm>
            <a:off x="5001272" y="336555"/>
            <a:ext cx="1593997" cy="2556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HW Help (Pic)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2D63AC-4D82-6540-8BC2-F0CD5735E50F}"/>
              </a:ext>
            </a:extLst>
          </p:cNvPr>
          <p:cNvSpPr/>
          <p:nvPr/>
        </p:nvSpPr>
        <p:spPr>
          <a:xfrm>
            <a:off x="6991522" y="401539"/>
            <a:ext cx="1707648" cy="2448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Simple Tutoring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730B48-8166-6B45-8891-55169B3DED47}"/>
              </a:ext>
            </a:extLst>
          </p:cNvPr>
          <p:cNvSpPr/>
          <p:nvPr/>
        </p:nvSpPr>
        <p:spPr>
          <a:xfrm>
            <a:off x="4585610" y="1671020"/>
            <a:ext cx="1047756" cy="280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Typed up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4E6794-6742-A34E-9B0D-0903804E94AF}"/>
              </a:ext>
            </a:extLst>
          </p:cNvPr>
          <p:cNvSpPr/>
          <p:nvPr/>
        </p:nvSpPr>
        <p:spPr>
          <a:xfrm>
            <a:off x="5961160" y="1667592"/>
            <a:ext cx="1047756" cy="280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E80AEC-9697-EB4E-9915-ECFC9452AA85}"/>
              </a:ext>
            </a:extLst>
          </p:cNvPr>
          <p:cNvSpPr/>
          <p:nvPr/>
        </p:nvSpPr>
        <p:spPr>
          <a:xfrm>
            <a:off x="7202513" y="1671020"/>
            <a:ext cx="1047756" cy="280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E2355A-E6AC-F843-B556-21BB251EFB50}"/>
              </a:ext>
            </a:extLst>
          </p:cNvPr>
          <p:cNvSpPr/>
          <p:nvPr/>
        </p:nvSpPr>
        <p:spPr>
          <a:xfrm>
            <a:off x="4865792" y="774035"/>
            <a:ext cx="1864959" cy="280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Major + Class info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95CCBC-2433-F848-B190-ADA099D660EE}"/>
              </a:ext>
            </a:extLst>
          </p:cNvPr>
          <p:cNvSpPr/>
          <p:nvPr/>
        </p:nvSpPr>
        <p:spPr>
          <a:xfrm>
            <a:off x="6935723" y="806947"/>
            <a:ext cx="1836131" cy="2527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Specific Tutoring Topic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7D0BE8-E3BF-4546-A46A-A2C411173B04}"/>
              </a:ext>
            </a:extLst>
          </p:cNvPr>
          <p:cNvSpPr/>
          <p:nvPr/>
        </p:nvSpPr>
        <p:spPr>
          <a:xfrm>
            <a:off x="5276234" y="1226743"/>
            <a:ext cx="1047756" cy="280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Done by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812534-C582-104D-99CC-A7892D9B19DF}"/>
              </a:ext>
            </a:extLst>
          </p:cNvPr>
          <p:cNvSpPr/>
          <p:nvPr/>
        </p:nvSpPr>
        <p:spPr>
          <a:xfrm>
            <a:off x="6762965" y="1211004"/>
            <a:ext cx="2145617" cy="2339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I’m free at (calendar)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31D681-EF4A-BB44-8CF2-A2C481C9DBDC}"/>
              </a:ext>
            </a:extLst>
          </p:cNvPr>
          <p:cNvSpPr/>
          <p:nvPr/>
        </p:nvSpPr>
        <p:spPr>
          <a:xfrm>
            <a:off x="4585610" y="1957386"/>
            <a:ext cx="3664659" cy="2269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Max 5 min wait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21CC23-CBE5-8047-ACA0-135CDCE57694}"/>
              </a:ext>
            </a:extLst>
          </p:cNvPr>
          <p:cNvSpPr/>
          <p:nvPr/>
        </p:nvSpPr>
        <p:spPr>
          <a:xfrm>
            <a:off x="4275015" y="2365638"/>
            <a:ext cx="2212400" cy="3249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Examining (2.5 mins)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78E7A3-34D1-B749-8EC9-F32B41095AF1}"/>
              </a:ext>
            </a:extLst>
          </p:cNvPr>
          <p:cNvSpPr/>
          <p:nvPr/>
        </p:nvSpPr>
        <p:spPr>
          <a:xfrm>
            <a:off x="3268958" y="2841146"/>
            <a:ext cx="1047756" cy="280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Tutor bid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735AE9-C2F7-7F40-AD4D-5322169A6472}"/>
              </a:ext>
            </a:extLst>
          </p:cNvPr>
          <p:cNvSpPr/>
          <p:nvPr/>
        </p:nvSpPr>
        <p:spPr>
          <a:xfrm>
            <a:off x="5884759" y="2850452"/>
            <a:ext cx="1558066" cy="280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Tutor declined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3ACDE19-B6F5-4E48-AEC3-18857EC24BD2}"/>
              </a:ext>
            </a:extLst>
          </p:cNvPr>
          <p:cNvSpPr/>
          <p:nvPr/>
        </p:nvSpPr>
        <p:spPr>
          <a:xfrm>
            <a:off x="5880276" y="3610099"/>
            <a:ext cx="1211060" cy="274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Examining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507E9C-85D5-6840-BEE6-007401AC8648}"/>
              </a:ext>
            </a:extLst>
          </p:cNvPr>
          <p:cNvSpPr/>
          <p:nvPr/>
        </p:nvSpPr>
        <p:spPr>
          <a:xfrm>
            <a:off x="5880276" y="3142585"/>
            <a:ext cx="3028306" cy="27473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One more try Max 5 min wait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C9B3369-7FBD-EC4E-ABA7-4063781F0C15}"/>
              </a:ext>
            </a:extLst>
          </p:cNvPr>
          <p:cNvSpPr/>
          <p:nvPr/>
        </p:nvSpPr>
        <p:spPr>
          <a:xfrm>
            <a:off x="5296730" y="4021536"/>
            <a:ext cx="1047756" cy="280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Tutor bid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52914F8-9EDA-8541-8ABF-017572FBA71A}"/>
              </a:ext>
            </a:extLst>
          </p:cNvPr>
          <p:cNvSpPr/>
          <p:nvPr/>
        </p:nvSpPr>
        <p:spPr>
          <a:xfrm>
            <a:off x="4712281" y="4771203"/>
            <a:ext cx="1617774" cy="280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Different tutor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B3B9733-1AE9-7B46-B365-92AE6F89029E}"/>
              </a:ext>
            </a:extLst>
          </p:cNvPr>
          <p:cNvSpPr/>
          <p:nvPr/>
        </p:nvSpPr>
        <p:spPr>
          <a:xfrm>
            <a:off x="4712281" y="5053525"/>
            <a:ext cx="3028306" cy="27473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One more try Max 5 min wait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6666F1D-DB65-7246-AD34-69A1A46777BC}"/>
              </a:ext>
            </a:extLst>
          </p:cNvPr>
          <p:cNvSpPr/>
          <p:nvPr/>
        </p:nvSpPr>
        <p:spPr>
          <a:xfrm>
            <a:off x="4720337" y="5454701"/>
            <a:ext cx="1211060" cy="274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Examining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5E00D67-0F97-F245-A4AC-0EFDB2F0F3C7}"/>
              </a:ext>
            </a:extLst>
          </p:cNvPr>
          <p:cNvSpPr/>
          <p:nvPr/>
        </p:nvSpPr>
        <p:spPr>
          <a:xfrm>
            <a:off x="4040165" y="5884434"/>
            <a:ext cx="1047756" cy="280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Tutor bid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EC0C602-84CB-C647-B511-A72EB28CE22D}"/>
              </a:ext>
            </a:extLst>
          </p:cNvPr>
          <p:cNvSpPr/>
          <p:nvPr/>
        </p:nvSpPr>
        <p:spPr>
          <a:xfrm>
            <a:off x="2036611" y="4779314"/>
            <a:ext cx="1202628" cy="4721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Accept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9EDEF02-03A0-CD49-8BBB-062A825FA0B6}"/>
              </a:ext>
            </a:extLst>
          </p:cNvPr>
          <p:cNvSpPr/>
          <p:nvPr/>
        </p:nvSpPr>
        <p:spPr>
          <a:xfrm>
            <a:off x="3293929" y="4773767"/>
            <a:ext cx="1293385" cy="4721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Decline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BECCF25-44E3-0643-AA14-6BA638E374E0}"/>
              </a:ext>
            </a:extLst>
          </p:cNvPr>
          <p:cNvSpPr/>
          <p:nvPr/>
        </p:nvSpPr>
        <p:spPr>
          <a:xfrm>
            <a:off x="3239239" y="6290676"/>
            <a:ext cx="1202628" cy="4721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Accept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0A5C393-87AF-8C44-A321-5710AEB16E4C}"/>
              </a:ext>
            </a:extLst>
          </p:cNvPr>
          <p:cNvSpPr/>
          <p:nvPr/>
        </p:nvSpPr>
        <p:spPr>
          <a:xfrm>
            <a:off x="4587314" y="6295359"/>
            <a:ext cx="1293385" cy="4721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Decline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DBA4AB8-D0D5-944A-AC5A-7E292DAC3402}"/>
              </a:ext>
            </a:extLst>
          </p:cNvPr>
          <p:cNvSpPr/>
          <p:nvPr/>
        </p:nvSpPr>
        <p:spPr>
          <a:xfrm>
            <a:off x="6798010" y="2381000"/>
            <a:ext cx="1472894" cy="30286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Call Spyros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37FADA8-082C-B547-AD89-6E967C6B3C1E}"/>
              </a:ext>
            </a:extLst>
          </p:cNvPr>
          <p:cNvSpPr/>
          <p:nvPr/>
        </p:nvSpPr>
        <p:spPr>
          <a:xfrm>
            <a:off x="7419358" y="3596036"/>
            <a:ext cx="1472894" cy="30286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Call Spyros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956DF1C-5C53-CD4B-840E-0D725653318D}"/>
              </a:ext>
            </a:extLst>
          </p:cNvPr>
          <p:cNvSpPr/>
          <p:nvPr/>
        </p:nvSpPr>
        <p:spPr>
          <a:xfrm>
            <a:off x="6527953" y="4003480"/>
            <a:ext cx="1472894" cy="30286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Call Spyros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1D3DDC3-D368-BD4A-8589-3AE4128BE9D0}"/>
              </a:ext>
            </a:extLst>
          </p:cNvPr>
          <p:cNvSpPr/>
          <p:nvPr/>
        </p:nvSpPr>
        <p:spPr>
          <a:xfrm>
            <a:off x="6372452" y="5434851"/>
            <a:ext cx="1472894" cy="30286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Call Spyros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960E192-52E9-8248-BC2B-0B4177A6336B}"/>
              </a:ext>
            </a:extLst>
          </p:cNvPr>
          <p:cNvSpPr/>
          <p:nvPr/>
        </p:nvSpPr>
        <p:spPr>
          <a:xfrm>
            <a:off x="5416760" y="5906057"/>
            <a:ext cx="1472894" cy="30286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Call Spyros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B071C21-73E1-5142-9FCF-D30C76380908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>
            <a:off x="5798271" y="592213"/>
            <a:ext cx="1" cy="181822"/>
          </a:xfrm>
          <a:prstGeom prst="straightConnector1">
            <a:avLst/>
          </a:prstGeom>
          <a:ln w="19050">
            <a:solidFill>
              <a:srgbClr val="AC27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4A9991A-3390-6645-80CE-B01E392AFCE3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>
            <a:off x="5798272" y="1054931"/>
            <a:ext cx="1840" cy="171812"/>
          </a:xfrm>
          <a:prstGeom prst="straightConnector1">
            <a:avLst/>
          </a:prstGeom>
          <a:ln w="19050">
            <a:solidFill>
              <a:srgbClr val="AC27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00C2E1E-8E23-394F-905E-20A0E4BF5D5B}"/>
              </a:ext>
            </a:extLst>
          </p:cNvPr>
          <p:cNvCxnSpPr>
            <a:cxnSpLocks/>
            <a:stCxn id="13" idx="2"/>
            <a:endCxn id="7" idx="0"/>
          </p:cNvCxnSpPr>
          <p:nvPr/>
        </p:nvCxnSpPr>
        <p:spPr>
          <a:xfrm flipH="1">
            <a:off x="5109488" y="1507639"/>
            <a:ext cx="690624" cy="163381"/>
          </a:xfrm>
          <a:prstGeom prst="straightConnector1">
            <a:avLst/>
          </a:prstGeom>
          <a:ln w="19050">
            <a:solidFill>
              <a:srgbClr val="AC27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3AD39D6-B955-2F45-B47D-EFB575080F82}"/>
              </a:ext>
            </a:extLst>
          </p:cNvPr>
          <p:cNvCxnSpPr>
            <a:cxnSpLocks/>
            <a:stCxn id="13" idx="2"/>
            <a:endCxn id="8" idx="0"/>
          </p:cNvCxnSpPr>
          <p:nvPr/>
        </p:nvCxnSpPr>
        <p:spPr>
          <a:xfrm>
            <a:off x="5800112" y="1507639"/>
            <a:ext cx="684926" cy="159953"/>
          </a:xfrm>
          <a:prstGeom prst="straightConnector1">
            <a:avLst/>
          </a:prstGeom>
          <a:ln w="19050">
            <a:solidFill>
              <a:srgbClr val="AC27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F7BD707-9BC3-9840-8284-378AB18A4444}"/>
              </a:ext>
            </a:extLst>
          </p:cNvPr>
          <p:cNvCxnSpPr>
            <a:cxnSpLocks/>
            <a:stCxn id="13" idx="2"/>
            <a:endCxn id="9" idx="0"/>
          </p:cNvCxnSpPr>
          <p:nvPr/>
        </p:nvCxnSpPr>
        <p:spPr>
          <a:xfrm>
            <a:off x="5800112" y="1507639"/>
            <a:ext cx="1926279" cy="163381"/>
          </a:xfrm>
          <a:prstGeom prst="straightConnector1">
            <a:avLst/>
          </a:prstGeom>
          <a:ln w="19050">
            <a:solidFill>
              <a:srgbClr val="AC27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DC2AB74-1034-154B-AEFD-18C86B951809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 flipH="1">
            <a:off x="5381215" y="2184326"/>
            <a:ext cx="1036725" cy="181312"/>
          </a:xfrm>
          <a:prstGeom prst="straightConnector1">
            <a:avLst/>
          </a:prstGeom>
          <a:ln w="19050">
            <a:solidFill>
              <a:srgbClr val="AC27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DB53227-8E28-9949-B096-FAC693380BF9}"/>
              </a:ext>
            </a:extLst>
          </p:cNvPr>
          <p:cNvCxnSpPr>
            <a:cxnSpLocks/>
            <a:stCxn id="17" idx="2"/>
            <a:endCxn id="42" idx="0"/>
          </p:cNvCxnSpPr>
          <p:nvPr/>
        </p:nvCxnSpPr>
        <p:spPr>
          <a:xfrm>
            <a:off x="6417940" y="2184326"/>
            <a:ext cx="1116517" cy="196674"/>
          </a:xfrm>
          <a:prstGeom prst="straightConnector1">
            <a:avLst/>
          </a:prstGeom>
          <a:ln w="19050">
            <a:solidFill>
              <a:srgbClr val="AC27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2479F33C-B505-CA46-9249-49850E9E2C0D}"/>
              </a:ext>
            </a:extLst>
          </p:cNvPr>
          <p:cNvCxnSpPr>
            <a:cxnSpLocks/>
            <a:stCxn id="18" idx="2"/>
            <a:endCxn id="20" idx="0"/>
          </p:cNvCxnSpPr>
          <p:nvPr/>
        </p:nvCxnSpPr>
        <p:spPr>
          <a:xfrm flipH="1">
            <a:off x="3792836" y="2690592"/>
            <a:ext cx="1588379" cy="150554"/>
          </a:xfrm>
          <a:prstGeom prst="straightConnector1">
            <a:avLst/>
          </a:prstGeom>
          <a:ln w="19050">
            <a:solidFill>
              <a:srgbClr val="AC27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59E77D4-F7DB-5643-A994-10FC278451AB}"/>
              </a:ext>
            </a:extLst>
          </p:cNvPr>
          <p:cNvCxnSpPr>
            <a:cxnSpLocks/>
            <a:stCxn id="18" idx="2"/>
            <a:endCxn id="21" idx="0"/>
          </p:cNvCxnSpPr>
          <p:nvPr/>
        </p:nvCxnSpPr>
        <p:spPr>
          <a:xfrm>
            <a:off x="5381215" y="2690592"/>
            <a:ext cx="1282577" cy="159860"/>
          </a:xfrm>
          <a:prstGeom prst="straightConnector1">
            <a:avLst/>
          </a:prstGeom>
          <a:ln w="19050">
            <a:solidFill>
              <a:srgbClr val="AC27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4DBB4AD1-420F-1043-9617-273BFAE63892}"/>
              </a:ext>
            </a:extLst>
          </p:cNvPr>
          <p:cNvCxnSpPr>
            <a:cxnSpLocks/>
            <a:stCxn id="23" idx="2"/>
            <a:endCxn id="22" idx="0"/>
          </p:cNvCxnSpPr>
          <p:nvPr/>
        </p:nvCxnSpPr>
        <p:spPr>
          <a:xfrm flipH="1">
            <a:off x="6485806" y="3417323"/>
            <a:ext cx="908623" cy="192776"/>
          </a:xfrm>
          <a:prstGeom prst="straightConnector1">
            <a:avLst/>
          </a:prstGeom>
          <a:ln w="19050">
            <a:solidFill>
              <a:srgbClr val="AC27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80591B88-8F6C-C44F-AC94-72B53036D0E4}"/>
              </a:ext>
            </a:extLst>
          </p:cNvPr>
          <p:cNvCxnSpPr>
            <a:cxnSpLocks/>
            <a:stCxn id="23" idx="2"/>
            <a:endCxn id="43" idx="0"/>
          </p:cNvCxnSpPr>
          <p:nvPr/>
        </p:nvCxnSpPr>
        <p:spPr>
          <a:xfrm>
            <a:off x="7394429" y="3417323"/>
            <a:ext cx="761376" cy="178713"/>
          </a:xfrm>
          <a:prstGeom prst="straightConnector1">
            <a:avLst/>
          </a:prstGeom>
          <a:ln w="19050">
            <a:solidFill>
              <a:srgbClr val="AC27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301B4CB5-B059-3E4E-9C63-9C662904473A}"/>
              </a:ext>
            </a:extLst>
          </p:cNvPr>
          <p:cNvCxnSpPr>
            <a:cxnSpLocks/>
            <a:stCxn id="22" idx="2"/>
            <a:endCxn id="25" idx="0"/>
          </p:cNvCxnSpPr>
          <p:nvPr/>
        </p:nvCxnSpPr>
        <p:spPr>
          <a:xfrm flipH="1">
            <a:off x="5820608" y="3884837"/>
            <a:ext cx="665198" cy="136699"/>
          </a:xfrm>
          <a:prstGeom prst="straightConnector1">
            <a:avLst/>
          </a:prstGeom>
          <a:ln w="19050">
            <a:solidFill>
              <a:srgbClr val="AC27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107337C6-F7D7-6142-9B58-10BF7731DE5F}"/>
              </a:ext>
            </a:extLst>
          </p:cNvPr>
          <p:cNvCxnSpPr>
            <a:cxnSpLocks/>
            <a:stCxn id="22" idx="2"/>
            <a:endCxn id="44" idx="0"/>
          </p:cNvCxnSpPr>
          <p:nvPr/>
        </p:nvCxnSpPr>
        <p:spPr>
          <a:xfrm>
            <a:off x="6485806" y="3884837"/>
            <a:ext cx="778594" cy="118643"/>
          </a:xfrm>
          <a:prstGeom prst="straightConnector1">
            <a:avLst/>
          </a:prstGeom>
          <a:ln w="19050">
            <a:solidFill>
              <a:srgbClr val="AC27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3DB31FD2-DD63-4649-A930-ED651A18156C}"/>
              </a:ext>
            </a:extLst>
          </p:cNvPr>
          <p:cNvCxnSpPr>
            <a:cxnSpLocks/>
            <a:stCxn id="20" idx="2"/>
            <a:endCxn id="37" idx="0"/>
          </p:cNvCxnSpPr>
          <p:nvPr/>
        </p:nvCxnSpPr>
        <p:spPr>
          <a:xfrm flipH="1">
            <a:off x="2637925" y="3122042"/>
            <a:ext cx="1154911" cy="1657272"/>
          </a:xfrm>
          <a:prstGeom prst="straightConnector1">
            <a:avLst/>
          </a:prstGeom>
          <a:ln w="19050">
            <a:solidFill>
              <a:srgbClr val="AC27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46567664-C472-5F40-969F-D0EC0379487A}"/>
              </a:ext>
            </a:extLst>
          </p:cNvPr>
          <p:cNvCxnSpPr>
            <a:cxnSpLocks/>
            <a:stCxn id="20" idx="2"/>
            <a:endCxn id="39" idx="0"/>
          </p:cNvCxnSpPr>
          <p:nvPr/>
        </p:nvCxnSpPr>
        <p:spPr>
          <a:xfrm>
            <a:off x="3792836" y="3122042"/>
            <a:ext cx="147786" cy="1651725"/>
          </a:xfrm>
          <a:prstGeom prst="straightConnector1">
            <a:avLst/>
          </a:prstGeom>
          <a:ln w="19050">
            <a:solidFill>
              <a:srgbClr val="AC27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A3B1C044-5904-A54A-B200-1B345F7BC581}"/>
              </a:ext>
            </a:extLst>
          </p:cNvPr>
          <p:cNvCxnSpPr>
            <a:cxnSpLocks/>
            <a:stCxn id="20" idx="2"/>
            <a:endCxn id="29" idx="0"/>
          </p:cNvCxnSpPr>
          <p:nvPr/>
        </p:nvCxnSpPr>
        <p:spPr>
          <a:xfrm>
            <a:off x="3792836" y="3122042"/>
            <a:ext cx="1728332" cy="1649161"/>
          </a:xfrm>
          <a:prstGeom prst="straightConnector1">
            <a:avLst/>
          </a:prstGeom>
          <a:ln w="19050">
            <a:solidFill>
              <a:srgbClr val="AC27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4571498A-7AAF-A249-BC9F-5C21677E061A}"/>
              </a:ext>
            </a:extLst>
          </p:cNvPr>
          <p:cNvCxnSpPr>
            <a:cxnSpLocks/>
            <a:stCxn id="25" idx="2"/>
            <a:endCxn id="37" idx="0"/>
          </p:cNvCxnSpPr>
          <p:nvPr/>
        </p:nvCxnSpPr>
        <p:spPr>
          <a:xfrm flipH="1">
            <a:off x="2637925" y="4302432"/>
            <a:ext cx="3182683" cy="476882"/>
          </a:xfrm>
          <a:prstGeom prst="straightConnector1">
            <a:avLst/>
          </a:prstGeom>
          <a:ln w="19050">
            <a:solidFill>
              <a:srgbClr val="AC27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F385DC12-AFD8-C64A-87BC-DCB4E3F3EF67}"/>
              </a:ext>
            </a:extLst>
          </p:cNvPr>
          <p:cNvCxnSpPr>
            <a:cxnSpLocks/>
            <a:stCxn id="25" idx="2"/>
            <a:endCxn id="39" idx="0"/>
          </p:cNvCxnSpPr>
          <p:nvPr/>
        </p:nvCxnSpPr>
        <p:spPr>
          <a:xfrm flipH="1">
            <a:off x="3940622" y="4302432"/>
            <a:ext cx="1879986" cy="471335"/>
          </a:xfrm>
          <a:prstGeom prst="straightConnector1">
            <a:avLst/>
          </a:prstGeom>
          <a:ln w="19050">
            <a:solidFill>
              <a:srgbClr val="AC27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F52393B5-D8D3-8B43-B727-1BF1637E69CF}"/>
              </a:ext>
            </a:extLst>
          </p:cNvPr>
          <p:cNvCxnSpPr>
            <a:cxnSpLocks/>
            <a:stCxn id="25" idx="2"/>
            <a:endCxn id="29" idx="0"/>
          </p:cNvCxnSpPr>
          <p:nvPr/>
        </p:nvCxnSpPr>
        <p:spPr>
          <a:xfrm flipH="1">
            <a:off x="5521168" y="4302432"/>
            <a:ext cx="299440" cy="468771"/>
          </a:xfrm>
          <a:prstGeom prst="straightConnector1">
            <a:avLst/>
          </a:prstGeom>
          <a:ln w="19050">
            <a:solidFill>
              <a:srgbClr val="AC27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1CE898B6-C0FA-6F42-B326-0DF1CD6C425C}"/>
              </a:ext>
            </a:extLst>
          </p:cNvPr>
          <p:cNvCxnSpPr>
            <a:cxnSpLocks/>
            <a:stCxn id="32" idx="2"/>
            <a:endCxn id="33" idx="0"/>
          </p:cNvCxnSpPr>
          <p:nvPr/>
        </p:nvCxnSpPr>
        <p:spPr>
          <a:xfrm flipH="1">
            <a:off x="5325867" y="5328263"/>
            <a:ext cx="900567" cy="126438"/>
          </a:xfrm>
          <a:prstGeom prst="straightConnector1">
            <a:avLst/>
          </a:prstGeom>
          <a:ln w="19050">
            <a:solidFill>
              <a:srgbClr val="AC27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77CFA0B0-20E6-C44F-8B76-C794CC1D6E6C}"/>
              </a:ext>
            </a:extLst>
          </p:cNvPr>
          <p:cNvCxnSpPr>
            <a:cxnSpLocks/>
            <a:stCxn id="32" idx="2"/>
            <a:endCxn id="45" idx="0"/>
          </p:cNvCxnSpPr>
          <p:nvPr/>
        </p:nvCxnSpPr>
        <p:spPr>
          <a:xfrm>
            <a:off x="6226434" y="5328263"/>
            <a:ext cx="882465" cy="106588"/>
          </a:xfrm>
          <a:prstGeom prst="straightConnector1">
            <a:avLst/>
          </a:prstGeom>
          <a:ln w="19050">
            <a:solidFill>
              <a:srgbClr val="AC27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13515BCF-F349-BD43-A901-6FE8D7A60FB5}"/>
              </a:ext>
            </a:extLst>
          </p:cNvPr>
          <p:cNvCxnSpPr>
            <a:cxnSpLocks/>
            <a:stCxn id="33" idx="2"/>
            <a:endCxn id="35" idx="0"/>
          </p:cNvCxnSpPr>
          <p:nvPr/>
        </p:nvCxnSpPr>
        <p:spPr>
          <a:xfrm flipH="1">
            <a:off x="4564043" y="5729439"/>
            <a:ext cx="761824" cy="154995"/>
          </a:xfrm>
          <a:prstGeom prst="straightConnector1">
            <a:avLst/>
          </a:prstGeom>
          <a:ln w="19050">
            <a:solidFill>
              <a:srgbClr val="AC27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A36ECD82-6371-214E-8B51-B02CB366776D}"/>
              </a:ext>
            </a:extLst>
          </p:cNvPr>
          <p:cNvCxnSpPr>
            <a:cxnSpLocks/>
            <a:stCxn id="33" idx="2"/>
            <a:endCxn id="46" idx="0"/>
          </p:cNvCxnSpPr>
          <p:nvPr/>
        </p:nvCxnSpPr>
        <p:spPr>
          <a:xfrm>
            <a:off x="5325867" y="5729439"/>
            <a:ext cx="827340" cy="176618"/>
          </a:xfrm>
          <a:prstGeom prst="straightConnector1">
            <a:avLst/>
          </a:prstGeom>
          <a:ln w="19050">
            <a:solidFill>
              <a:srgbClr val="AC27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B28849D3-8C11-C643-B1BF-2F9A0A4FCCF1}"/>
              </a:ext>
            </a:extLst>
          </p:cNvPr>
          <p:cNvCxnSpPr>
            <a:cxnSpLocks/>
            <a:stCxn id="35" idx="2"/>
            <a:endCxn id="40" idx="0"/>
          </p:cNvCxnSpPr>
          <p:nvPr/>
        </p:nvCxnSpPr>
        <p:spPr>
          <a:xfrm flipH="1">
            <a:off x="3840553" y="6165330"/>
            <a:ext cx="723490" cy="125346"/>
          </a:xfrm>
          <a:prstGeom prst="straightConnector1">
            <a:avLst/>
          </a:prstGeom>
          <a:ln w="19050">
            <a:solidFill>
              <a:srgbClr val="AC27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086D08E2-6647-E14F-AA3B-42CAE2E2D679}"/>
              </a:ext>
            </a:extLst>
          </p:cNvPr>
          <p:cNvCxnSpPr>
            <a:cxnSpLocks/>
            <a:stCxn id="35" idx="2"/>
            <a:endCxn id="41" idx="0"/>
          </p:cNvCxnSpPr>
          <p:nvPr/>
        </p:nvCxnSpPr>
        <p:spPr>
          <a:xfrm>
            <a:off x="4564043" y="6165330"/>
            <a:ext cx="669964" cy="130029"/>
          </a:xfrm>
          <a:prstGeom prst="straightConnector1">
            <a:avLst/>
          </a:prstGeom>
          <a:ln w="19050">
            <a:solidFill>
              <a:srgbClr val="AC27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B6E5B0A5-BDBE-3F46-8F0B-3A5CA04B1445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5798271" y="138617"/>
            <a:ext cx="408304" cy="197938"/>
          </a:xfrm>
          <a:prstGeom prst="straightConnector1">
            <a:avLst/>
          </a:prstGeom>
          <a:ln w="19050">
            <a:solidFill>
              <a:srgbClr val="AC27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0B313E7F-1464-AF48-A152-6420C9E4D25B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7543630" y="138617"/>
            <a:ext cx="301716" cy="262922"/>
          </a:xfrm>
          <a:prstGeom prst="straightConnector1">
            <a:avLst/>
          </a:prstGeom>
          <a:ln w="19050">
            <a:solidFill>
              <a:srgbClr val="AC27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CBC69106-DA51-A84B-A653-1B47E6F423F3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7845346" y="646416"/>
            <a:ext cx="8443" cy="160531"/>
          </a:xfrm>
          <a:prstGeom prst="straightConnector1">
            <a:avLst/>
          </a:prstGeom>
          <a:ln w="19050">
            <a:solidFill>
              <a:srgbClr val="AC27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F0B7C3AE-9291-8140-8050-F0E7546B89B6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 flipH="1">
            <a:off x="7835774" y="1059740"/>
            <a:ext cx="18015" cy="151264"/>
          </a:xfrm>
          <a:prstGeom prst="straightConnector1">
            <a:avLst/>
          </a:prstGeom>
          <a:ln w="19050">
            <a:solidFill>
              <a:srgbClr val="AC27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E9FC0507-1B09-264D-A420-DC5B04BCB172}"/>
              </a:ext>
            </a:extLst>
          </p:cNvPr>
          <p:cNvCxnSpPr>
            <a:cxnSpLocks/>
            <a:stCxn id="14" idx="2"/>
            <a:endCxn id="8" idx="0"/>
          </p:cNvCxnSpPr>
          <p:nvPr/>
        </p:nvCxnSpPr>
        <p:spPr>
          <a:xfrm flipH="1">
            <a:off x="6485038" y="1444911"/>
            <a:ext cx="1350736" cy="222681"/>
          </a:xfrm>
          <a:prstGeom prst="straightConnector1">
            <a:avLst/>
          </a:prstGeom>
          <a:ln w="19050">
            <a:solidFill>
              <a:srgbClr val="AC27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BFACC421-7043-A444-9215-9681DBD28B9F}"/>
              </a:ext>
            </a:extLst>
          </p:cNvPr>
          <p:cNvCxnSpPr>
            <a:cxnSpLocks/>
            <a:stCxn id="14" idx="2"/>
            <a:endCxn id="9" idx="0"/>
          </p:cNvCxnSpPr>
          <p:nvPr/>
        </p:nvCxnSpPr>
        <p:spPr>
          <a:xfrm flipH="1">
            <a:off x="7726391" y="1444911"/>
            <a:ext cx="109383" cy="226109"/>
          </a:xfrm>
          <a:prstGeom prst="straightConnector1">
            <a:avLst/>
          </a:prstGeom>
          <a:ln w="19050">
            <a:solidFill>
              <a:srgbClr val="AC27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TextBox 271">
            <a:extLst>
              <a:ext uri="{FF2B5EF4-FFF2-40B4-BE49-F238E27FC236}">
                <a16:creationId xmlns:a16="http://schemas.microsoft.com/office/drawing/2014/main" id="{CF07CC43-ED69-3C4E-A8A9-199AE56C4212}"/>
              </a:ext>
            </a:extLst>
          </p:cNvPr>
          <p:cNvSpPr txBox="1"/>
          <p:nvPr/>
        </p:nvSpPr>
        <p:spPr>
          <a:xfrm>
            <a:off x="8581499" y="2009349"/>
            <a:ext cx="3629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kind of data do I have to keep?</a:t>
            </a:r>
          </a:p>
        </p:txBody>
      </p:sp>
    </p:spTree>
    <p:extLst>
      <p:ext uri="{BB962C8B-B14F-4D97-AF65-F5344CB8AC3E}">
        <p14:creationId xmlns:p14="http://schemas.microsoft.com/office/powerpoint/2010/main" val="2884418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2CC7D-8B2D-2A4B-8D9B-A41459504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857" y="345722"/>
            <a:ext cx="3003485" cy="896516"/>
          </a:xfrm>
        </p:spPr>
        <p:txBody>
          <a:bodyPr>
            <a:normAutofit fontScale="90000"/>
          </a:bodyPr>
          <a:lstStyle/>
          <a:p>
            <a:r>
              <a:rPr lang="en-US" dirty="0"/>
              <a:t>Tutor UI Flow </a:t>
            </a:r>
            <a:r>
              <a:rPr lang="en-US" sz="2700" dirty="0"/>
              <a:t>(after account setup)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51CCCC5-7630-6F46-BC55-8B31A7D6BFF3}"/>
              </a:ext>
            </a:extLst>
          </p:cNvPr>
          <p:cNvSpPr/>
          <p:nvPr/>
        </p:nvSpPr>
        <p:spPr>
          <a:xfrm>
            <a:off x="5717115" y="172038"/>
            <a:ext cx="2096802" cy="37059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Gets Notification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2D63AC-4D82-6540-8BC2-F0CD5735E50F}"/>
              </a:ext>
            </a:extLst>
          </p:cNvPr>
          <p:cNvSpPr/>
          <p:nvPr/>
        </p:nvSpPr>
        <p:spPr>
          <a:xfrm>
            <a:off x="5911692" y="717679"/>
            <a:ext cx="1707648" cy="2222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Clicks</a:t>
            </a:r>
          </a:p>
        </p:txBody>
      </p: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0B313E7F-1464-AF48-A152-6420C9E4D25B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>
            <a:off x="6765516" y="542635"/>
            <a:ext cx="0" cy="175044"/>
          </a:xfrm>
          <a:prstGeom prst="straightConnector1">
            <a:avLst/>
          </a:prstGeom>
          <a:ln w="19050">
            <a:solidFill>
              <a:srgbClr val="AC27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F0B7C3AE-9291-8140-8050-F0E7546B89B6}"/>
              </a:ext>
            </a:extLst>
          </p:cNvPr>
          <p:cNvCxnSpPr>
            <a:cxnSpLocks/>
            <a:stCxn id="95" idx="2"/>
            <a:endCxn id="100" idx="0"/>
          </p:cNvCxnSpPr>
          <p:nvPr/>
        </p:nvCxnSpPr>
        <p:spPr>
          <a:xfrm flipH="1">
            <a:off x="5319691" y="1575655"/>
            <a:ext cx="1446350" cy="255046"/>
          </a:xfrm>
          <a:prstGeom prst="straightConnector1">
            <a:avLst/>
          </a:prstGeom>
          <a:ln w="19050">
            <a:solidFill>
              <a:srgbClr val="AC27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94">
            <a:extLst>
              <a:ext uri="{FF2B5EF4-FFF2-40B4-BE49-F238E27FC236}">
                <a16:creationId xmlns:a16="http://schemas.microsoft.com/office/drawing/2014/main" id="{3596BD36-6CEC-434D-B64B-7C6794774160}"/>
              </a:ext>
            </a:extLst>
          </p:cNvPr>
          <p:cNvSpPr/>
          <p:nvPr/>
        </p:nvSpPr>
        <p:spPr>
          <a:xfrm>
            <a:off x="5912217" y="1353377"/>
            <a:ext cx="1707648" cy="22227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Max 5 min to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46B5DFC4-11AC-E144-A5ED-FF6B5C435F01}"/>
              </a:ext>
            </a:extLst>
          </p:cNvPr>
          <p:cNvSpPr/>
          <p:nvPr/>
        </p:nvSpPr>
        <p:spPr>
          <a:xfrm>
            <a:off x="3817948" y="1830701"/>
            <a:ext cx="3003485" cy="4721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Bid (inserts amount)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5DF99E77-3995-0549-BDAC-9E330D5B698A}"/>
              </a:ext>
            </a:extLst>
          </p:cNvPr>
          <p:cNvSpPr/>
          <p:nvPr/>
        </p:nvSpPr>
        <p:spPr>
          <a:xfrm>
            <a:off x="7167224" y="1797934"/>
            <a:ext cx="1293385" cy="4721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Decline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D6098C29-1B74-5B41-902D-204DC5155FC5}"/>
              </a:ext>
            </a:extLst>
          </p:cNvPr>
          <p:cNvCxnSpPr>
            <a:cxnSpLocks/>
            <a:stCxn id="95" idx="2"/>
            <a:endCxn id="101" idx="0"/>
          </p:cNvCxnSpPr>
          <p:nvPr/>
        </p:nvCxnSpPr>
        <p:spPr>
          <a:xfrm>
            <a:off x="6766041" y="1575655"/>
            <a:ext cx="1047876" cy="222279"/>
          </a:xfrm>
          <a:prstGeom prst="straightConnector1">
            <a:avLst/>
          </a:prstGeom>
          <a:ln w="19050">
            <a:solidFill>
              <a:srgbClr val="AC27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47C6D62A-2BC8-4047-817F-AE2A1347580D}"/>
              </a:ext>
            </a:extLst>
          </p:cNvPr>
          <p:cNvSpPr/>
          <p:nvPr/>
        </p:nvSpPr>
        <p:spPr>
          <a:xfrm>
            <a:off x="5912217" y="1131098"/>
            <a:ext cx="1707648" cy="2222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Review Request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1D3C7A55-6E62-2E45-8F7B-94E1B2BEA347}"/>
              </a:ext>
            </a:extLst>
          </p:cNvPr>
          <p:cNvCxnSpPr>
            <a:cxnSpLocks/>
            <a:stCxn id="6" idx="2"/>
            <a:endCxn id="106" idx="0"/>
          </p:cNvCxnSpPr>
          <p:nvPr/>
        </p:nvCxnSpPr>
        <p:spPr>
          <a:xfrm>
            <a:off x="6765516" y="939958"/>
            <a:ext cx="525" cy="191140"/>
          </a:xfrm>
          <a:prstGeom prst="straightConnector1">
            <a:avLst/>
          </a:prstGeom>
          <a:ln w="19050">
            <a:solidFill>
              <a:srgbClr val="AC27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Oval 111">
            <a:extLst>
              <a:ext uri="{FF2B5EF4-FFF2-40B4-BE49-F238E27FC236}">
                <a16:creationId xmlns:a16="http://schemas.microsoft.com/office/drawing/2014/main" id="{E5FE0AC6-E995-1B43-9265-793B453FD927}"/>
              </a:ext>
            </a:extLst>
          </p:cNvPr>
          <p:cNvSpPr/>
          <p:nvPr/>
        </p:nvSpPr>
        <p:spPr>
          <a:xfrm>
            <a:off x="3598516" y="2505527"/>
            <a:ext cx="1396475" cy="4721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Gets job</a:t>
            </a: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95E84A8C-1839-0943-AE41-559A3024638F}"/>
              </a:ext>
            </a:extLst>
          </p:cNvPr>
          <p:cNvSpPr/>
          <p:nvPr/>
        </p:nvSpPr>
        <p:spPr>
          <a:xfrm>
            <a:off x="5472131" y="2505527"/>
            <a:ext cx="1293385" cy="47212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Nah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67BB084B-AA99-CC45-A299-8636714A9458}"/>
              </a:ext>
            </a:extLst>
          </p:cNvPr>
          <p:cNvCxnSpPr>
            <a:cxnSpLocks/>
            <a:stCxn id="100" idx="4"/>
            <a:endCxn id="112" idx="0"/>
          </p:cNvCxnSpPr>
          <p:nvPr/>
        </p:nvCxnSpPr>
        <p:spPr>
          <a:xfrm flipH="1">
            <a:off x="4296754" y="2302825"/>
            <a:ext cx="1022937" cy="202702"/>
          </a:xfrm>
          <a:prstGeom prst="straightConnector1">
            <a:avLst/>
          </a:prstGeom>
          <a:ln w="19050">
            <a:solidFill>
              <a:srgbClr val="AC27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10F1934B-079E-D646-A97D-DCDA2C47D8CB}"/>
              </a:ext>
            </a:extLst>
          </p:cNvPr>
          <p:cNvCxnSpPr>
            <a:cxnSpLocks/>
            <a:stCxn id="100" idx="4"/>
            <a:endCxn id="113" idx="0"/>
          </p:cNvCxnSpPr>
          <p:nvPr/>
        </p:nvCxnSpPr>
        <p:spPr>
          <a:xfrm>
            <a:off x="5319691" y="2302825"/>
            <a:ext cx="799133" cy="202702"/>
          </a:xfrm>
          <a:prstGeom prst="straightConnector1">
            <a:avLst/>
          </a:prstGeom>
          <a:ln w="19050">
            <a:solidFill>
              <a:srgbClr val="AC27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itle 1">
            <a:extLst>
              <a:ext uri="{FF2B5EF4-FFF2-40B4-BE49-F238E27FC236}">
                <a16:creationId xmlns:a16="http://schemas.microsoft.com/office/drawing/2014/main" id="{477721BE-F391-6D4F-BE2A-72493014E5B7}"/>
              </a:ext>
            </a:extLst>
          </p:cNvPr>
          <p:cNvSpPr txBox="1">
            <a:spLocks/>
          </p:cNvSpPr>
          <p:nvPr/>
        </p:nvSpPr>
        <p:spPr>
          <a:xfrm>
            <a:off x="659857" y="3180353"/>
            <a:ext cx="3003485" cy="8965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Tutor UI Flow </a:t>
            </a:r>
            <a:r>
              <a:rPr lang="en-US" sz="2700" dirty="0"/>
              <a:t>(after job acceptance)</a:t>
            </a:r>
            <a:endParaRPr lang="en-US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987AF109-7AD7-9C47-B573-F80DFE653A14}"/>
              </a:ext>
            </a:extLst>
          </p:cNvPr>
          <p:cNvSpPr txBox="1"/>
          <p:nvPr/>
        </p:nvSpPr>
        <p:spPr>
          <a:xfrm>
            <a:off x="659857" y="4432300"/>
            <a:ext cx="48122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React native tutorial for apps</a:t>
            </a:r>
          </a:p>
          <a:p>
            <a:r>
              <a:rPr lang="en-US" dirty="0"/>
              <a:t>React JS</a:t>
            </a:r>
          </a:p>
          <a:p>
            <a:r>
              <a:rPr lang="en-US" dirty="0"/>
              <a:t>Backend</a:t>
            </a:r>
          </a:p>
          <a:p>
            <a:r>
              <a:rPr lang="en-US" dirty="0"/>
              <a:t>Serverless-stack!!!!</a:t>
            </a:r>
          </a:p>
        </p:txBody>
      </p:sp>
    </p:spTree>
    <p:extLst>
      <p:ext uri="{BB962C8B-B14F-4D97-AF65-F5344CB8AC3E}">
        <p14:creationId xmlns:p14="http://schemas.microsoft.com/office/powerpoint/2010/main" val="1426888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8F7367A-4B89-4247-BF51-D4735E01F2AF}"/>
              </a:ext>
            </a:extLst>
          </p:cNvPr>
          <p:cNvSpPr/>
          <p:nvPr/>
        </p:nvSpPr>
        <p:spPr>
          <a:xfrm>
            <a:off x="4979567" y="3662604"/>
            <a:ext cx="365514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spc="-300" dirty="0">
                <a:solidFill>
                  <a:srgbClr val="FFD001"/>
                </a:solidFill>
                <a:latin typeface="Apple Braille" pitchFamily="2" charset="0"/>
                <a:ea typeface="Menlo" panose="020B0609030804020204" pitchFamily="49" charset="0"/>
                <a:cs typeface="Menlo" panose="020B0609030804020204" pitchFamily="49" charset="0"/>
              </a:rPr>
              <a:t>Home</a:t>
            </a:r>
            <a:endParaRPr lang="en-US" sz="4400" b="1" spc="-300" dirty="0">
              <a:solidFill>
                <a:srgbClr val="002C61"/>
              </a:solidFill>
              <a:latin typeface="Apple Braille" pitchFamily="2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5276884-102B-5644-9B3D-AD720722F6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88788" y1="53252" x2="88788" y2="5325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4844720" y="3616305"/>
            <a:ext cx="740064" cy="5195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037DF9C-F251-E84A-9D6F-9EC060185CE8}"/>
              </a:ext>
            </a:extLst>
          </p:cNvPr>
          <p:cNvSpPr txBox="1"/>
          <p:nvPr/>
        </p:nvSpPr>
        <p:spPr>
          <a:xfrm>
            <a:off x="325875" y="220230"/>
            <a:ext cx="918851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Uber-like homework solutions sharing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Two apps, request homeworker – become a homeworker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faster the most expensive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Price estimate and homeworker sets up the price (within a price range-get a price estimate function –say how many questions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submits the homework and homeworkers make offers (we get </a:t>
            </a:r>
            <a:r>
              <a:rPr lang="en-US" dirty="0" err="1"/>
              <a:t>comition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Homeworker either sends back the homework or set up meeting for explanations (more expensive)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Rating system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D55F9D-6011-F44F-8C29-4AE0B31AC484}"/>
              </a:ext>
            </a:extLst>
          </p:cNvPr>
          <p:cNvSpPr/>
          <p:nvPr/>
        </p:nvSpPr>
        <p:spPr>
          <a:xfrm>
            <a:off x="6341330" y="3663656"/>
            <a:ext cx="365514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spc="-300" dirty="0">
                <a:solidFill>
                  <a:srgbClr val="002C61"/>
                </a:solidFill>
                <a:latin typeface="Apple Braille" pitchFamily="2" charset="0"/>
                <a:ea typeface="Menlo" panose="020B0609030804020204" pitchFamily="49" charset="0"/>
                <a:cs typeface="Menlo" panose="020B0609030804020204" pitchFamily="49" charset="0"/>
              </a:rPr>
              <a:t>work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BDFA22-4C07-DE42-AF1C-0A4E7179EF30}"/>
              </a:ext>
            </a:extLst>
          </p:cNvPr>
          <p:cNvSpPr/>
          <p:nvPr/>
        </p:nvSpPr>
        <p:spPr>
          <a:xfrm>
            <a:off x="7630420" y="3724158"/>
            <a:ext cx="12404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spc="-300" dirty="0">
                <a:solidFill>
                  <a:schemeClr val="accent2">
                    <a:lumMod val="50000"/>
                  </a:schemeClr>
                </a:solidFill>
                <a:latin typeface="Apple Braille" pitchFamily="2" charset="0"/>
                <a:ea typeface="Menlo" panose="020B0609030804020204" pitchFamily="49" charset="0"/>
                <a:cs typeface="Menlo" panose="020B0609030804020204" pitchFamily="49" charset="0"/>
              </a:rPr>
              <a:t>Net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FDA140-9552-064E-BDFC-1B33FAC1E36E}"/>
              </a:ext>
            </a:extLst>
          </p:cNvPr>
          <p:cNvSpPr/>
          <p:nvPr/>
        </p:nvSpPr>
        <p:spPr>
          <a:xfrm>
            <a:off x="622364" y="5596596"/>
            <a:ext cx="365514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spc="-300" dirty="0">
                <a:solidFill>
                  <a:srgbClr val="FFD001"/>
                </a:solidFill>
                <a:latin typeface="Apple Braille" pitchFamily="2" charset="0"/>
                <a:ea typeface="Menlo" panose="020B0609030804020204" pitchFamily="49" charset="0"/>
                <a:cs typeface="Menlo" panose="020B0609030804020204" pitchFamily="49" charset="0"/>
              </a:rPr>
              <a:t>Home</a:t>
            </a:r>
            <a:endParaRPr lang="en-US" sz="4400" b="1" spc="-300" dirty="0">
              <a:solidFill>
                <a:srgbClr val="002C61"/>
              </a:solidFill>
              <a:latin typeface="Apple Braille" pitchFamily="2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27BFA1B-357A-0347-92E9-E8391B20D8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88788" y1="53252" x2="88788" y2="5325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487517" y="5550297"/>
            <a:ext cx="740064" cy="51957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372A408-572E-1D49-ACB2-49E243634C3F}"/>
              </a:ext>
            </a:extLst>
          </p:cNvPr>
          <p:cNvSpPr/>
          <p:nvPr/>
        </p:nvSpPr>
        <p:spPr>
          <a:xfrm>
            <a:off x="757211" y="5868329"/>
            <a:ext cx="365514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spc="-300" dirty="0">
                <a:solidFill>
                  <a:srgbClr val="002C61"/>
                </a:solidFill>
                <a:latin typeface="Apple Braille" pitchFamily="2" charset="0"/>
                <a:ea typeface="Menlo" panose="020B0609030804020204" pitchFamily="49" charset="0"/>
                <a:cs typeface="Menlo" panose="020B0609030804020204" pitchFamily="49" charset="0"/>
              </a:rPr>
              <a:t>work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3EEBA8-B528-F342-A61D-F40B31025465}"/>
              </a:ext>
            </a:extLst>
          </p:cNvPr>
          <p:cNvSpPr/>
          <p:nvPr/>
        </p:nvSpPr>
        <p:spPr>
          <a:xfrm>
            <a:off x="1925923" y="5596596"/>
            <a:ext cx="706863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600" b="1" spc="-300" dirty="0">
                <a:solidFill>
                  <a:schemeClr val="accent2">
                    <a:lumMod val="50000"/>
                  </a:schemeClr>
                </a:solidFill>
                <a:latin typeface="Apple Braille" pitchFamily="2" charset="0"/>
                <a:ea typeface="Menlo" panose="020B0609030804020204" pitchFamily="49" charset="0"/>
                <a:cs typeface="Menlo" panose="020B0609030804020204" pitchFamily="49" charset="0"/>
              </a:rPr>
              <a:t>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2A11A0-0033-9A47-B63B-68817EF91DBA}"/>
              </a:ext>
            </a:extLst>
          </p:cNvPr>
          <p:cNvSpPr/>
          <p:nvPr/>
        </p:nvSpPr>
        <p:spPr>
          <a:xfrm>
            <a:off x="2396293" y="5596596"/>
            <a:ext cx="365514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600" b="1" spc="-300" dirty="0">
                <a:solidFill>
                  <a:schemeClr val="accent2">
                    <a:lumMod val="50000"/>
                  </a:schemeClr>
                </a:solidFill>
                <a:latin typeface="Apple Braille" pitchFamily="2" charset="0"/>
                <a:ea typeface="Menlo" panose="020B0609030804020204" pitchFamily="49" charset="0"/>
                <a:cs typeface="Menlo" panose="020B0609030804020204" pitchFamily="49" charset="0"/>
              </a:rPr>
              <a:t>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2510F7-C3A9-6440-9E37-1C76652310D8}"/>
              </a:ext>
            </a:extLst>
          </p:cNvPr>
          <p:cNvSpPr/>
          <p:nvPr/>
        </p:nvSpPr>
        <p:spPr>
          <a:xfrm>
            <a:off x="2780213" y="5596596"/>
            <a:ext cx="50076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600" b="1" spc="-300" dirty="0">
                <a:solidFill>
                  <a:schemeClr val="accent2">
                    <a:lumMod val="50000"/>
                  </a:schemeClr>
                </a:solidFill>
                <a:latin typeface="Apple Braille" pitchFamily="2" charset="0"/>
                <a:ea typeface="Menlo" panose="020B0609030804020204" pitchFamily="49" charset="0"/>
                <a:cs typeface="Menlo" panose="020B0609030804020204" pitchFamily="49" charset="0"/>
              </a:rPr>
              <a:t>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1AE857-0B85-B448-BB25-B7985C2B6109}"/>
              </a:ext>
            </a:extLst>
          </p:cNvPr>
          <p:cNvSpPr txBox="1"/>
          <p:nvPr/>
        </p:nvSpPr>
        <p:spPr>
          <a:xfrm>
            <a:off x="2342432" y="3383048"/>
            <a:ext cx="8755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spc="-150" dirty="0">
                <a:solidFill>
                  <a:srgbClr val="4BD47A"/>
                </a:solidFill>
                <a:latin typeface="Aharoni" panose="020F0502020204030204" pitchFamily="34" charset="0"/>
                <a:ea typeface="Menlo" panose="020B0609030804020204" pitchFamily="49" charset="0"/>
                <a:cs typeface="Aharoni" panose="020F0502020204030204" pitchFamily="34" charset="0"/>
              </a:rPr>
              <a:t>Lysi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C74DF01-8EB3-0146-831C-643B11FEF4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2855" y="3474953"/>
            <a:ext cx="448866" cy="44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926D7-F0CF-CA4E-BA34-A202D33BF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Videos to start with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DF296-D995-8E41-BB38-21F0F7867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https://www.youtube.com/watch?v=RBZL6PO2ytc</a:t>
            </a:r>
            <a:r>
              <a:rPr lang="en-US" dirty="0"/>
              <a:t>&amp;t=1305s (for how to run on physical phone)</a:t>
            </a:r>
          </a:p>
          <a:p>
            <a:pPr marL="0" indent="0">
              <a:buNone/>
            </a:pPr>
            <a:r>
              <a:rPr lang="en-US" dirty="0"/>
              <a:t>Visual studio code </a:t>
            </a:r>
            <a:r>
              <a:rPr lang="en-US" dirty="0">
                <a:hlinkClick r:id="rId3"/>
              </a:rPr>
              <a:t>https://code.visualstudio.com/docs/?dv=osx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464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D4124-9BD9-5D43-AC53-D49019088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149225"/>
            <a:ext cx="10515600" cy="638175"/>
          </a:xfrm>
        </p:spPr>
        <p:txBody>
          <a:bodyPr>
            <a:normAutofit/>
          </a:bodyPr>
          <a:lstStyle/>
          <a:p>
            <a:r>
              <a:rPr lang="en-US" sz="3200" dirty="0"/>
              <a:t>Steps for creating the app: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64CE9-B38C-7B4B-BB11-5E3669646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885825"/>
            <a:ext cx="11861800" cy="5822950"/>
          </a:xfrm>
        </p:spPr>
        <p:txBody>
          <a:bodyPr>
            <a:normAutofit/>
          </a:bodyPr>
          <a:lstStyle/>
          <a:p>
            <a:r>
              <a:rPr lang="en-US" sz="1600" dirty="0"/>
              <a:t>Install watchman and node with homebrew (install homebrew)</a:t>
            </a:r>
          </a:p>
          <a:p>
            <a:r>
              <a:rPr lang="en-US" sz="1600" dirty="0"/>
              <a:t>Create react native initial app on the desktop by </a:t>
            </a:r>
            <a:r>
              <a:rPr lang="en-US" sz="1600" dirty="0" err="1">
                <a:solidFill>
                  <a:srgbClr val="0070C0"/>
                </a:solidFill>
              </a:rPr>
              <a:t>Spyros-MacBook-Pro:Desktop</a:t>
            </a:r>
            <a:r>
              <a:rPr lang="en-US" sz="1600" dirty="0">
                <a:solidFill>
                  <a:srgbClr val="0070C0"/>
                </a:solidFill>
              </a:rPr>
              <a:t> </a:t>
            </a:r>
            <a:r>
              <a:rPr lang="en-US" sz="1600" dirty="0" err="1">
                <a:solidFill>
                  <a:srgbClr val="0070C0"/>
                </a:solidFill>
              </a:rPr>
              <a:t>spyroskasapis</a:t>
            </a:r>
            <a:r>
              <a:rPr lang="en-US" sz="1600" dirty="0">
                <a:solidFill>
                  <a:srgbClr val="0070C0"/>
                </a:solidFill>
              </a:rPr>
              <a:t>$ react-native </a:t>
            </a:r>
            <a:r>
              <a:rPr lang="en-US" sz="1600" dirty="0" err="1">
                <a:solidFill>
                  <a:srgbClr val="0070C0"/>
                </a:solidFill>
              </a:rPr>
              <a:t>init</a:t>
            </a:r>
            <a:r>
              <a:rPr lang="en-US" sz="1600" dirty="0">
                <a:solidFill>
                  <a:srgbClr val="0070C0"/>
                </a:solidFill>
              </a:rPr>
              <a:t> </a:t>
            </a:r>
            <a:r>
              <a:rPr lang="en-US" sz="1600" dirty="0" err="1">
                <a:solidFill>
                  <a:srgbClr val="0070C0"/>
                </a:solidFill>
              </a:rPr>
              <a:t>HomeworksApp</a:t>
            </a:r>
            <a:endParaRPr lang="en-US" sz="1600" dirty="0">
              <a:solidFill>
                <a:srgbClr val="0070C0"/>
              </a:solidFill>
            </a:endParaRPr>
          </a:p>
          <a:p>
            <a:r>
              <a:rPr lang="en-US" sz="1600" dirty="0"/>
              <a:t>On Visual studio code open the folder </a:t>
            </a:r>
            <a:r>
              <a:rPr lang="en-US" sz="1600" dirty="0" err="1"/>
              <a:t>Homeworks</a:t>
            </a:r>
            <a:r>
              <a:rPr lang="en-US" sz="1600" dirty="0"/>
              <a:t> App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54977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BEA03-3F4A-3E42-B5EE-1ADB7C2F0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Smokes: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C816E-599C-FA4A-AB3E-F06ECFBE3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“Who are we” section</a:t>
            </a:r>
          </a:p>
          <a:p>
            <a:r>
              <a:rPr lang="en-US" dirty="0"/>
              <a:t>Talk to Mark about Philip</a:t>
            </a:r>
          </a:p>
          <a:p>
            <a:r>
              <a:rPr lang="en-US" dirty="0"/>
              <a:t>1) Happy Hour: 2-5pm, Monday-Wednesday, -10%</a:t>
            </a:r>
          </a:p>
          <a:p>
            <a:pPr lvl="1"/>
            <a:r>
              <a:rPr lang="en-US" dirty="0">
                <a:hlinkClick r:id="rId2"/>
              </a:rPr>
              <a:t>https://wordpress.org/support/topic/need-happy-hour-plugin/</a:t>
            </a:r>
            <a:endParaRPr lang="en-US" dirty="0"/>
          </a:p>
          <a:p>
            <a:pPr lvl="1"/>
            <a:r>
              <a:rPr lang="en-US" dirty="0">
                <a:solidFill>
                  <a:srgbClr val="FFC000"/>
                </a:solidFill>
              </a:rPr>
              <a:t>Need to update every week or pay</a:t>
            </a:r>
          </a:p>
          <a:p>
            <a:r>
              <a:rPr lang="en-US" dirty="0"/>
              <a:t>Website: The two plugins mark was talking about</a:t>
            </a:r>
          </a:p>
          <a:p>
            <a:pPr lvl="1"/>
            <a:r>
              <a:rPr lang="en-US" dirty="0"/>
              <a:t>2) Map/Range </a:t>
            </a:r>
            <a:r>
              <a:rPr lang="en-US" sz="1800" dirty="0">
                <a:solidFill>
                  <a:srgbClr val="FF0000"/>
                </a:solidFill>
              </a:rPr>
              <a:t>(need more info from Marc – how user gets stuff and pays for it)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1) Send e-mail (download all e-mails, google this) </a:t>
            </a:r>
            <a:r>
              <a:rPr lang="en-US" sz="3200" dirty="0">
                <a:solidFill>
                  <a:srgbClr val="00B050"/>
                </a:solidFill>
              </a:rPr>
              <a:t>Done</a:t>
            </a:r>
            <a:endParaRPr lang="en-US" sz="1400" dirty="0">
              <a:solidFill>
                <a:srgbClr val="FF0000"/>
              </a:solidFill>
            </a:endParaRPr>
          </a:p>
          <a:p>
            <a:r>
              <a:rPr lang="en-US" dirty="0"/>
              <a:t>1) Price changes: </a:t>
            </a:r>
            <a:r>
              <a:rPr lang="en-US" dirty="0">
                <a:solidFill>
                  <a:srgbClr val="00B050"/>
                </a:solidFill>
              </a:rPr>
              <a:t>Done</a:t>
            </a:r>
            <a:endParaRPr lang="en-US" dirty="0"/>
          </a:p>
          <a:p>
            <a:pPr lvl="1"/>
            <a:r>
              <a:rPr lang="en-US" dirty="0"/>
              <a:t>Scale Pricing: -0.5 for 4, -1 for 8, -1.5 for 16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675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14313</TotalTime>
  <Words>876</Words>
  <Application>Microsoft Macintosh PowerPoint</Application>
  <PresentationFormat>Widescreen</PresentationFormat>
  <Paragraphs>123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Aharoni</vt:lpstr>
      <vt:lpstr>Apple Braille</vt:lpstr>
      <vt:lpstr>Arial</vt:lpstr>
      <vt:lpstr>Calibri</vt:lpstr>
      <vt:lpstr>Calibri Light</vt:lpstr>
      <vt:lpstr>Office Theme</vt:lpstr>
      <vt:lpstr>Business Plan</vt:lpstr>
      <vt:lpstr>App Function (before tutor’s acceptance)</vt:lpstr>
      <vt:lpstr>App Function (after tutor’s acceptance)</vt:lpstr>
      <vt:lpstr>Extra important details</vt:lpstr>
      <vt:lpstr>Marketing</vt:lpstr>
      <vt:lpstr>User UI Flow (after account setup)</vt:lpstr>
      <vt:lpstr>Tutor UI Flow (after account setup)</vt:lpstr>
      <vt:lpstr>PowerPoint Presentation</vt:lpstr>
      <vt:lpstr>Useful Videos to start with</vt:lpstr>
      <vt:lpstr>Steps for creating the app:</vt:lpstr>
      <vt:lpstr>Smokes: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Plan</dc:title>
  <dc:creator>Microsoft Office User</dc:creator>
  <cp:lastModifiedBy>Microsoft Office User</cp:lastModifiedBy>
  <cp:revision>49</cp:revision>
  <dcterms:created xsi:type="dcterms:W3CDTF">2019-06-21T01:38:42Z</dcterms:created>
  <dcterms:modified xsi:type="dcterms:W3CDTF">2019-07-01T02:22:25Z</dcterms:modified>
</cp:coreProperties>
</file>